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3C8FE1-DBE5-4EE9-80FB-B2BCED69F42C}" type="doc">
      <dgm:prSet loTypeId="urn:microsoft.com/office/officeart/2005/8/layout/process1" loCatId="process" qsTypeId="urn:microsoft.com/office/officeart/2005/8/quickstyle/simple1" qsCatId="simple" csTypeId="urn:microsoft.com/office/officeart/2005/8/colors/accent0_2" csCatId="mainScheme" phldr="1"/>
      <dgm:spPr/>
    </dgm:pt>
    <dgm:pt modelId="{5AA46410-4D4F-4605-BCE3-5C97C0197F09}">
      <dgm:prSet phldrT="[Text]"/>
      <dgm:spPr/>
      <dgm:t>
        <a:bodyPr/>
        <a:lstStyle/>
        <a:p>
          <a:pPr>
            <a:buNone/>
          </a:pPr>
          <a:r>
            <a:rPr lang="en-IN" dirty="0"/>
            <a:t>Data Collection</a:t>
          </a:r>
        </a:p>
      </dgm:t>
    </dgm:pt>
    <dgm:pt modelId="{B6AC113E-9817-4D5D-80FF-1D9599970CAD}" type="parTrans" cxnId="{4FD7730B-3A6D-4DB2-9344-F80CC24AFEC4}">
      <dgm:prSet/>
      <dgm:spPr/>
      <dgm:t>
        <a:bodyPr/>
        <a:lstStyle/>
        <a:p>
          <a:endParaRPr lang="en-IN"/>
        </a:p>
      </dgm:t>
    </dgm:pt>
    <dgm:pt modelId="{BC05BB9E-4145-4EA2-B401-71F6BFD08D0A}" type="sibTrans" cxnId="{4FD7730B-3A6D-4DB2-9344-F80CC24AFEC4}">
      <dgm:prSet/>
      <dgm:spPr/>
      <dgm:t>
        <a:bodyPr/>
        <a:lstStyle/>
        <a:p>
          <a:endParaRPr lang="en-IN"/>
        </a:p>
      </dgm:t>
    </dgm:pt>
    <dgm:pt modelId="{23F572B6-1C28-445C-B1A8-DEBF0C555FFF}">
      <dgm:prSet phldrT="[Text]"/>
      <dgm:spPr/>
      <dgm:t>
        <a:bodyPr/>
        <a:lstStyle/>
        <a:p>
          <a:pPr>
            <a:buNone/>
          </a:pPr>
          <a:r>
            <a:rPr lang="en-IN" dirty="0"/>
            <a:t>Data Cleaning (Excel) </a:t>
          </a:r>
        </a:p>
      </dgm:t>
    </dgm:pt>
    <dgm:pt modelId="{73BC5460-994C-448F-9D2F-CD8142DC6871}" type="parTrans" cxnId="{E239A3F9-580B-46BA-83F9-C357FC694BD8}">
      <dgm:prSet/>
      <dgm:spPr/>
      <dgm:t>
        <a:bodyPr/>
        <a:lstStyle/>
        <a:p>
          <a:endParaRPr lang="en-IN"/>
        </a:p>
      </dgm:t>
    </dgm:pt>
    <dgm:pt modelId="{D39E031C-577E-41EB-B8F2-9F0FC90D1B93}" type="sibTrans" cxnId="{E239A3F9-580B-46BA-83F9-C357FC694BD8}">
      <dgm:prSet/>
      <dgm:spPr/>
      <dgm:t>
        <a:bodyPr/>
        <a:lstStyle/>
        <a:p>
          <a:endParaRPr lang="en-IN"/>
        </a:p>
      </dgm:t>
    </dgm:pt>
    <dgm:pt modelId="{EFFBB57C-D433-419C-A762-B9AC7C79807F}">
      <dgm:prSet phldrT="[Text]"/>
      <dgm:spPr/>
      <dgm:t>
        <a:bodyPr/>
        <a:lstStyle/>
        <a:p>
          <a:pPr>
            <a:buNone/>
          </a:pPr>
          <a:r>
            <a:rPr lang="en-IN" dirty="0"/>
            <a:t>Excel Dashboard</a:t>
          </a:r>
        </a:p>
      </dgm:t>
    </dgm:pt>
    <dgm:pt modelId="{0A7F5907-F197-414C-A8C0-98860B8528ED}" type="parTrans" cxnId="{1C28DD0B-29C2-496E-B9D2-B5E6DDAE6681}">
      <dgm:prSet/>
      <dgm:spPr/>
      <dgm:t>
        <a:bodyPr/>
        <a:lstStyle/>
        <a:p>
          <a:endParaRPr lang="en-IN"/>
        </a:p>
      </dgm:t>
    </dgm:pt>
    <dgm:pt modelId="{DF2E8F35-99CE-4E05-ADEB-4458E1F1418E}" type="sibTrans" cxnId="{1C28DD0B-29C2-496E-B9D2-B5E6DDAE6681}">
      <dgm:prSet/>
      <dgm:spPr/>
      <dgm:t>
        <a:bodyPr/>
        <a:lstStyle/>
        <a:p>
          <a:endParaRPr lang="en-IN"/>
        </a:p>
      </dgm:t>
    </dgm:pt>
    <dgm:pt modelId="{FAB946B2-2AE3-41CB-B75F-670660226636}">
      <dgm:prSet phldrT="[Text]"/>
      <dgm:spPr/>
      <dgm:t>
        <a:bodyPr/>
        <a:lstStyle/>
        <a:p>
          <a:pPr>
            <a:buNone/>
          </a:pPr>
          <a:r>
            <a:rPr lang="en-IN" dirty="0"/>
            <a:t>Power BI Dashboard </a:t>
          </a:r>
        </a:p>
      </dgm:t>
    </dgm:pt>
    <dgm:pt modelId="{AD144F1E-7D4D-46B0-96A1-E7231E0B2AC8}" type="parTrans" cxnId="{8A6CE661-8699-47E3-89AA-9F8BAB28DA9C}">
      <dgm:prSet/>
      <dgm:spPr/>
      <dgm:t>
        <a:bodyPr/>
        <a:lstStyle/>
        <a:p>
          <a:endParaRPr lang="en-IN"/>
        </a:p>
      </dgm:t>
    </dgm:pt>
    <dgm:pt modelId="{A4C4D788-CE8E-44CB-8FDF-AEF583A838EC}" type="sibTrans" cxnId="{8A6CE661-8699-47E3-89AA-9F8BAB28DA9C}">
      <dgm:prSet/>
      <dgm:spPr/>
      <dgm:t>
        <a:bodyPr/>
        <a:lstStyle/>
        <a:p>
          <a:endParaRPr lang="en-IN"/>
        </a:p>
      </dgm:t>
    </dgm:pt>
    <dgm:pt modelId="{26EFD06D-23E2-4037-AE0C-D45E4D224139}">
      <dgm:prSet phldrT="[Text]"/>
      <dgm:spPr/>
      <dgm:t>
        <a:bodyPr/>
        <a:lstStyle/>
        <a:p>
          <a:pPr>
            <a:buNone/>
          </a:pPr>
          <a:r>
            <a:rPr lang="en-IN" dirty="0"/>
            <a:t>SQL Analysis</a:t>
          </a:r>
        </a:p>
      </dgm:t>
    </dgm:pt>
    <dgm:pt modelId="{3ED1E5AE-1C29-4DF4-8877-E24F8F6A8952}" type="parTrans" cxnId="{ADAD77BB-F497-4F8D-8155-381D225F73B5}">
      <dgm:prSet/>
      <dgm:spPr/>
      <dgm:t>
        <a:bodyPr/>
        <a:lstStyle/>
        <a:p>
          <a:endParaRPr lang="en-IN"/>
        </a:p>
      </dgm:t>
    </dgm:pt>
    <dgm:pt modelId="{61F885D8-82FD-485C-96DE-6DB8EA289813}" type="sibTrans" cxnId="{ADAD77BB-F497-4F8D-8155-381D225F73B5}">
      <dgm:prSet/>
      <dgm:spPr/>
      <dgm:t>
        <a:bodyPr/>
        <a:lstStyle/>
        <a:p>
          <a:endParaRPr lang="en-IN"/>
        </a:p>
      </dgm:t>
    </dgm:pt>
    <dgm:pt modelId="{8E4CFF19-143C-44B8-806C-FEBDBACB5FE9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IN" dirty="0"/>
            <a:t>Business Insights &amp; Recommendations </a:t>
          </a:r>
        </a:p>
      </dgm:t>
    </dgm:pt>
    <dgm:pt modelId="{EF3887E9-E76B-4AE9-86AE-FC60010663DE}" type="parTrans" cxnId="{59050FCA-906C-40CA-BA0C-86489DC4B29E}">
      <dgm:prSet/>
      <dgm:spPr/>
      <dgm:t>
        <a:bodyPr/>
        <a:lstStyle/>
        <a:p>
          <a:endParaRPr lang="en-IN"/>
        </a:p>
      </dgm:t>
    </dgm:pt>
    <dgm:pt modelId="{EE5A8A2F-C736-444D-BE24-C31CE62A511E}" type="sibTrans" cxnId="{59050FCA-906C-40CA-BA0C-86489DC4B29E}">
      <dgm:prSet/>
      <dgm:spPr/>
      <dgm:t>
        <a:bodyPr/>
        <a:lstStyle/>
        <a:p>
          <a:endParaRPr lang="en-IN"/>
        </a:p>
      </dgm:t>
    </dgm:pt>
    <dgm:pt modelId="{075AF24E-5500-4C15-B5A4-0A04FFEAF686}" type="pres">
      <dgm:prSet presAssocID="{D63C8FE1-DBE5-4EE9-80FB-B2BCED69F42C}" presName="Name0" presStyleCnt="0">
        <dgm:presLayoutVars>
          <dgm:dir/>
          <dgm:resizeHandles val="exact"/>
        </dgm:presLayoutVars>
      </dgm:prSet>
      <dgm:spPr/>
    </dgm:pt>
    <dgm:pt modelId="{816B2441-7BDE-4250-A9CD-A3C0ED2CA9A0}" type="pres">
      <dgm:prSet presAssocID="{5AA46410-4D4F-4605-BCE3-5C97C0197F09}" presName="node" presStyleLbl="node1" presStyleIdx="0" presStyleCnt="6">
        <dgm:presLayoutVars>
          <dgm:bulletEnabled val="1"/>
        </dgm:presLayoutVars>
      </dgm:prSet>
      <dgm:spPr/>
    </dgm:pt>
    <dgm:pt modelId="{1984D58D-2EAA-4A8B-8818-660E5B51D787}" type="pres">
      <dgm:prSet presAssocID="{BC05BB9E-4145-4EA2-B401-71F6BFD08D0A}" presName="sibTrans" presStyleLbl="sibTrans2D1" presStyleIdx="0" presStyleCnt="5"/>
      <dgm:spPr/>
    </dgm:pt>
    <dgm:pt modelId="{DA71651D-4F45-4830-9926-7C67E874A81F}" type="pres">
      <dgm:prSet presAssocID="{BC05BB9E-4145-4EA2-B401-71F6BFD08D0A}" presName="connectorText" presStyleLbl="sibTrans2D1" presStyleIdx="0" presStyleCnt="5"/>
      <dgm:spPr/>
    </dgm:pt>
    <dgm:pt modelId="{1E8BE390-3586-451A-B54E-0A5BCC61848C}" type="pres">
      <dgm:prSet presAssocID="{23F572B6-1C28-445C-B1A8-DEBF0C555FFF}" presName="node" presStyleLbl="node1" presStyleIdx="1" presStyleCnt="6">
        <dgm:presLayoutVars>
          <dgm:bulletEnabled val="1"/>
        </dgm:presLayoutVars>
      </dgm:prSet>
      <dgm:spPr/>
    </dgm:pt>
    <dgm:pt modelId="{455659F8-5548-4B87-8C72-8C4BC8F3C9CC}" type="pres">
      <dgm:prSet presAssocID="{D39E031C-577E-41EB-B8F2-9F0FC90D1B93}" presName="sibTrans" presStyleLbl="sibTrans2D1" presStyleIdx="1" presStyleCnt="5"/>
      <dgm:spPr/>
    </dgm:pt>
    <dgm:pt modelId="{ED935967-F80F-4758-8706-C232CEB1D4B8}" type="pres">
      <dgm:prSet presAssocID="{D39E031C-577E-41EB-B8F2-9F0FC90D1B93}" presName="connectorText" presStyleLbl="sibTrans2D1" presStyleIdx="1" presStyleCnt="5"/>
      <dgm:spPr/>
    </dgm:pt>
    <dgm:pt modelId="{3E2DA495-B2D3-4CDC-899B-8D9C110581CE}" type="pres">
      <dgm:prSet presAssocID="{EFFBB57C-D433-419C-A762-B9AC7C79807F}" presName="node" presStyleLbl="node1" presStyleIdx="2" presStyleCnt="6">
        <dgm:presLayoutVars>
          <dgm:bulletEnabled val="1"/>
        </dgm:presLayoutVars>
      </dgm:prSet>
      <dgm:spPr/>
    </dgm:pt>
    <dgm:pt modelId="{72E81B33-578D-48F0-917B-E147A7B4B3C1}" type="pres">
      <dgm:prSet presAssocID="{DF2E8F35-99CE-4E05-ADEB-4458E1F1418E}" presName="sibTrans" presStyleLbl="sibTrans2D1" presStyleIdx="2" presStyleCnt="5"/>
      <dgm:spPr/>
    </dgm:pt>
    <dgm:pt modelId="{189E6C45-C8BE-41E1-A1CE-15F393B3A083}" type="pres">
      <dgm:prSet presAssocID="{DF2E8F35-99CE-4E05-ADEB-4458E1F1418E}" presName="connectorText" presStyleLbl="sibTrans2D1" presStyleIdx="2" presStyleCnt="5"/>
      <dgm:spPr/>
    </dgm:pt>
    <dgm:pt modelId="{BC01E64F-0FD5-4426-A7D5-7A838E15891A}" type="pres">
      <dgm:prSet presAssocID="{FAB946B2-2AE3-41CB-B75F-670660226636}" presName="node" presStyleLbl="node1" presStyleIdx="3" presStyleCnt="6">
        <dgm:presLayoutVars>
          <dgm:bulletEnabled val="1"/>
        </dgm:presLayoutVars>
      </dgm:prSet>
      <dgm:spPr/>
    </dgm:pt>
    <dgm:pt modelId="{0B40EAC5-7E99-4FC9-93D0-BEB6BE381211}" type="pres">
      <dgm:prSet presAssocID="{A4C4D788-CE8E-44CB-8FDF-AEF583A838EC}" presName="sibTrans" presStyleLbl="sibTrans2D1" presStyleIdx="3" presStyleCnt="5"/>
      <dgm:spPr/>
    </dgm:pt>
    <dgm:pt modelId="{CE7C74CC-44E2-4A81-A8B6-A47B5F295CF0}" type="pres">
      <dgm:prSet presAssocID="{A4C4D788-CE8E-44CB-8FDF-AEF583A838EC}" presName="connectorText" presStyleLbl="sibTrans2D1" presStyleIdx="3" presStyleCnt="5"/>
      <dgm:spPr/>
    </dgm:pt>
    <dgm:pt modelId="{6C03D8BC-E107-4DFF-A15A-75BB919FB1BB}" type="pres">
      <dgm:prSet presAssocID="{26EFD06D-23E2-4037-AE0C-D45E4D224139}" presName="node" presStyleLbl="node1" presStyleIdx="4" presStyleCnt="6">
        <dgm:presLayoutVars>
          <dgm:bulletEnabled val="1"/>
        </dgm:presLayoutVars>
      </dgm:prSet>
      <dgm:spPr/>
    </dgm:pt>
    <dgm:pt modelId="{7FA279F8-318B-4389-B22E-AAE7DC8251CE}" type="pres">
      <dgm:prSet presAssocID="{61F885D8-82FD-485C-96DE-6DB8EA289813}" presName="sibTrans" presStyleLbl="sibTrans2D1" presStyleIdx="4" presStyleCnt="5"/>
      <dgm:spPr/>
    </dgm:pt>
    <dgm:pt modelId="{3CDCEAAF-2FE6-4BAB-9483-AA8B48A9415B}" type="pres">
      <dgm:prSet presAssocID="{61F885D8-82FD-485C-96DE-6DB8EA289813}" presName="connectorText" presStyleLbl="sibTrans2D1" presStyleIdx="4" presStyleCnt="5"/>
      <dgm:spPr/>
    </dgm:pt>
    <dgm:pt modelId="{1D48EA03-72F1-4CE0-B925-A78AA0DCA978}" type="pres">
      <dgm:prSet presAssocID="{8E4CFF19-143C-44B8-806C-FEBDBACB5FE9}" presName="node" presStyleLbl="node1" presStyleIdx="5" presStyleCnt="6">
        <dgm:presLayoutVars>
          <dgm:bulletEnabled val="1"/>
        </dgm:presLayoutVars>
      </dgm:prSet>
      <dgm:spPr/>
    </dgm:pt>
  </dgm:ptLst>
  <dgm:cxnLst>
    <dgm:cxn modelId="{4FD7730B-3A6D-4DB2-9344-F80CC24AFEC4}" srcId="{D63C8FE1-DBE5-4EE9-80FB-B2BCED69F42C}" destId="{5AA46410-4D4F-4605-BCE3-5C97C0197F09}" srcOrd="0" destOrd="0" parTransId="{B6AC113E-9817-4D5D-80FF-1D9599970CAD}" sibTransId="{BC05BB9E-4145-4EA2-B401-71F6BFD08D0A}"/>
    <dgm:cxn modelId="{1C28DD0B-29C2-496E-B9D2-B5E6DDAE6681}" srcId="{D63C8FE1-DBE5-4EE9-80FB-B2BCED69F42C}" destId="{EFFBB57C-D433-419C-A762-B9AC7C79807F}" srcOrd="2" destOrd="0" parTransId="{0A7F5907-F197-414C-A8C0-98860B8528ED}" sibTransId="{DF2E8F35-99CE-4E05-ADEB-4458E1F1418E}"/>
    <dgm:cxn modelId="{725AB316-B1E9-4D53-98A8-ABF91FA2042F}" type="presOf" srcId="{A4C4D788-CE8E-44CB-8FDF-AEF583A838EC}" destId="{CE7C74CC-44E2-4A81-A8B6-A47B5F295CF0}" srcOrd="1" destOrd="0" presId="urn:microsoft.com/office/officeart/2005/8/layout/process1"/>
    <dgm:cxn modelId="{02161028-F432-4F81-B5C7-FE2D4C46FC14}" type="presOf" srcId="{BC05BB9E-4145-4EA2-B401-71F6BFD08D0A}" destId="{DA71651D-4F45-4830-9926-7C67E874A81F}" srcOrd="1" destOrd="0" presId="urn:microsoft.com/office/officeart/2005/8/layout/process1"/>
    <dgm:cxn modelId="{3A0D355F-DA81-456D-AF06-C1C700E5B3BD}" type="presOf" srcId="{DF2E8F35-99CE-4E05-ADEB-4458E1F1418E}" destId="{72E81B33-578D-48F0-917B-E147A7B4B3C1}" srcOrd="0" destOrd="0" presId="urn:microsoft.com/office/officeart/2005/8/layout/process1"/>
    <dgm:cxn modelId="{8A6CE661-8699-47E3-89AA-9F8BAB28DA9C}" srcId="{D63C8FE1-DBE5-4EE9-80FB-B2BCED69F42C}" destId="{FAB946B2-2AE3-41CB-B75F-670660226636}" srcOrd="3" destOrd="0" parTransId="{AD144F1E-7D4D-46B0-96A1-E7231E0B2AC8}" sibTransId="{A4C4D788-CE8E-44CB-8FDF-AEF583A838EC}"/>
    <dgm:cxn modelId="{EB679864-1AD7-4EE8-B6DD-C3E79828E603}" type="presOf" srcId="{DF2E8F35-99CE-4E05-ADEB-4458E1F1418E}" destId="{189E6C45-C8BE-41E1-A1CE-15F393B3A083}" srcOrd="1" destOrd="0" presId="urn:microsoft.com/office/officeart/2005/8/layout/process1"/>
    <dgm:cxn modelId="{2015ED44-246F-4ECE-95E6-CB12F781B76A}" type="presOf" srcId="{5AA46410-4D4F-4605-BCE3-5C97C0197F09}" destId="{816B2441-7BDE-4250-A9CD-A3C0ED2CA9A0}" srcOrd="0" destOrd="0" presId="urn:microsoft.com/office/officeart/2005/8/layout/process1"/>
    <dgm:cxn modelId="{700A0466-BA9D-475C-9173-4107157C1377}" type="presOf" srcId="{D39E031C-577E-41EB-B8F2-9F0FC90D1B93}" destId="{455659F8-5548-4B87-8C72-8C4BC8F3C9CC}" srcOrd="0" destOrd="0" presId="urn:microsoft.com/office/officeart/2005/8/layout/process1"/>
    <dgm:cxn modelId="{7300E866-15B8-40DA-A5CF-DA26EECDBB82}" type="presOf" srcId="{FAB946B2-2AE3-41CB-B75F-670660226636}" destId="{BC01E64F-0FD5-4426-A7D5-7A838E15891A}" srcOrd="0" destOrd="0" presId="urn:microsoft.com/office/officeart/2005/8/layout/process1"/>
    <dgm:cxn modelId="{8265F772-8841-4A8B-A687-532B4BFD6106}" type="presOf" srcId="{61F885D8-82FD-485C-96DE-6DB8EA289813}" destId="{7FA279F8-318B-4389-B22E-AAE7DC8251CE}" srcOrd="0" destOrd="0" presId="urn:microsoft.com/office/officeart/2005/8/layout/process1"/>
    <dgm:cxn modelId="{BBC17996-3327-412B-8ECF-44EDA64260D4}" type="presOf" srcId="{D39E031C-577E-41EB-B8F2-9F0FC90D1B93}" destId="{ED935967-F80F-4758-8706-C232CEB1D4B8}" srcOrd="1" destOrd="0" presId="urn:microsoft.com/office/officeart/2005/8/layout/process1"/>
    <dgm:cxn modelId="{E8F6EAA6-426D-44B9-88AB-F1829210D77D}" type="presOf" srcId="{26EFD06D-23E2-4037-AE0C-D45E4D224139}" destId="{6C03D8BC-E107-4DFF-A15A-75BB919FB1BB}" srcOrd="0" destOrd="0" presId="urn:microsoft.com/office/officeart/2005/8/layout/process1"/>
    <dgm:cxn modelId="{ADAD77BB-F497-4F8D-8155-381D225F73B5}" srcId="{D63C8FE1-DBE5-4EE9-80FB-B2BCED69F42C}" destId="{26EFD06D-23E2-4037-AE0C-D45E4D224139}" srcOrd="4" destOrd="0" parTransId="{3ED1E5AE-1C29-4DF4-8877-E24F8F6A8952}" sibTransId="{61F885D8-82FD-485C-96DE-6DB8EA289813}"/>
    <dgm:cxn modelId="{7DC1BABD-2D2D-4B64-B5ED-57A1F01BC447}" type="presOf" srcId="{61F885D8-82FD-485C-96DE-6DB8EA289813}" destId="{3CDCEAAF-2FE6-4BAB-9483-AA8B48A9415B}" srcOrd="1" destOrd="0" presId="urn:microsoft.com/office/officeart/2005/8/layout/process1"/>
    <dgm:cxn modelId="{459DC6BD-7D65-48CB-9A2A-2823EA6A609B}" type="presOf" srcId="{8E4CFF19-143C-44B8-806C-FEBDBACB5FE9}" destId="{1D48EA03-72F1-4CE0-B925-A78AA0DCA978}" srcOrd="0" destOrd="0" presId="urn:microsoft.com/office/officeart/2005/8/layout/process1"/>
    <dgm:cxn modelId="{20B954C2-61B8-4EE7-AC0D-9B03088C88D9}" type="presOf" srcId="{D63C8FE1-DBE5-4EE9-80FB-B2BCED69F42C}" destId="{075AF24E-5500-4C15-B5A4-0A04FFEAF686}" srcOrd="0" destOrd="0" presId="urn:microsoft.com/office/officeart/2005/8/layout/process1"/>
    <dgm:cxn modelId="{224A2EC3-A546-45C7-AFD5-DFB15A70C096}" type="presOf" srcId="{23F572B6-1C28-445C-B1A8-DEBF0C555FFF}" destId="{1E8BE390-3586-451A-B54E-0A5BCC61848C}" srcOrd="0" destOrd="0" presId="urn:microsoft.com/office/officeart/2005/8/layout/process1"/>
    <dgm:cxn modelId="{7A431AC6-6541-461C-8350-AA9F88CD1B91}" type="presOf" srcId="{EFFBB57C-D433-419C-A762-B9AC7C79807F}" destId="{3E2DA495-B2D3-4CDC-899B-8D9C110581CE}" srcOrd="0" destOrd="0" presId="urn:microsoft.com/office/officeart/2005/8/layout/process1"/>
    <dgm:cxn modelId="{59050FCA-906C-40CA-BA0C-86489DC4B29E}" srcId="{D63C8FE1-DBE5-4EE9-80FB-B2BCED69F42C}" destId="{8E4CFF19-143C-44B8-806C-FEBDBACB5FE9}" srcOrd="5" destOrd="0" parTransId="{EF3887E9-E76B-4AE9-86AE-FC60010663DE}" sibTransId="{EE5A8A2F-C736-444D-BE24-C31CE62A511E}"/>
    <dgm:cxn modelId="{306DDECB-80B1-4CF7-8189-029B891035EC}" type="presOf" srcId="{A4C4D788-CE8E-44CB-8FDF-AEF583A838EC}" destId="{0B40EAC5-7E99-4FC9-93D0-BEB6BE381211}" srcOrd="0" destOrd="0" presId="urn:microsoft.com/office/officeart/2005/8/layout/process1"/>
    <dgm:cxn modelId="{CEF1EFF4-8620-4E68-B4BA-E872BBD9976A}" type="presOf" srcId="{BC05BB9E-4145-4EA2-B401-71F6BFD08D0A}" destId="{1984D58D-2EAA-4A8B-8818-660E5B51D787}" srcOrd="0" destOrd="0" presId="urn:microsoft.com/office/officeart/2005/8/layout/process1"/>
    <dgm:cxn modelId="{E239A3F9-580B-46BA-83F9-C357FC694BD8}" srcId="{D63C8FE1-DBE5-4EE9-80FB-B2BCED69F42C}" destId="{23F572B6-1C28-445C-B1A8-DEBF0C555FFF}" srcOrd="1" destOrd="0" parTransId="{73BC5460-994C-448F-9D2F-CD8142DC6871}" sibTransId="{D39E031C-577E-41EB-B8F2-9F0FC90D1B93}"/>
    <dgm:cxn modelId="{0287AF15-EFD5-4A48-A5A8-2E142353FE6D}" type="presParOf" srcId="{075AF24E-5500-4C15-B5A4-0A04FFEAF686}" destId="{816B2441-7BDE-4250-A9CD-A3C0ED2CA9A0}" srcOrd="0" destOrd="0" presId="urn:microsoft.com/office/officeart/2005/8/layout/process1"/>
    <dgm:cxn modelId="{8FF43256-A9BB-4BAE-9DB8-7D31F3992296}" type="presParOf" srcId="{075AF24E-5500-4C15-B5A4-0A04FFEAF686}" destId="{1984D58D-2EAA-4A8B-8818-660E5B51D787}" srcOrd="1" destOrd="0" presId="urn:microsoft.com/office/officeart/2005/8/layout/process1"/>
    <dgm:cxn modelId="{E7B5EED7-2A6A-4CBA-9285-BEB848664081}" type="presParOf" srcId="{1984D58D-2EAA-4A8B-8818-660E5B51D787}" destId="{DA71651D-4F45-4830-9926-7C67E874A81F}" srcOrd="0" destOrd="0" presId="urn:microsoft.com/office/officeart/2005/8/layout/process1"/>
    <dgm:cxn modelId="{8CBB4128-678F-4A40-B27E-326FF5C96535}" type="presParOf" srcId="{075AF24E-5500-4C15-B5A4-0A04FFEAF686}" destId="{1E8BE390-3586-451A-B54E-0A5BCC61848C}" srcOrd="2" destOrd="0" presId="urn:microsoft.com/office/officeart/2005/8/layout/process1"/>
    <dgm:cxn modelId="{0E535CBF-3B1F-4484-A039-C3479DBE9C8A}" type="presParOf" srcId="{075AF24E-5500-4C15-B5A4-0A04FFEAF686}" destId="{455659F8-5548-4B87-8C72-8C4BC8F3C9CC}" srcOrd="3" destOrd="0" presId="urn:microsoft.com/office/officeart/2005/8/layout/process1"/>
    <dgm:cxn modelId="{BDD04668-F21C-463A-988F-8616E31491DF}" type="presParOf" srcId="{455659F8-5548-4B87-8C72-8C4BC8F3C9CC}" destId="{ED935967-F80F-4758-8706-C232CEB1D4B8}" srcOrd="0" destOrd="0" presId="urn:microsoft.com/office/officeart/2005/8/layout/process1"/>
    <dgm:cxn modelId="{2E577DAB-961A-484E-80E3-64C9F91254EC}" type="presParOf" srcId="{075AF24E-5500-4C15-B5A4-0A04FFEAF686}" destId="{3E2DA495-B2D3-4CDC-899B-8D9C110581CE}" srcOrd="4" destOrd="0" presId="urn:microsoft.com/office/officeart/2005/8/layout/process1"/>
    <dgm:cxn modelId="{7C733EFD-F09D-43C0-9F4B-8D8F2AB33D09}" type="presParOf" srcId="{075AF24E-5500-4C15-B5A4-0A04FFEAF686}" destId="{72E81B33-578D-48F0-917B-E147A7B4B3C1}" srcOrd="5" destOrd="0" presId="urn:microsoft.com/office/officeart/2005/8/layout/process1"/>
    <dgm:cxn modelId="{2D38ADF7-B0D1-4102-B042-2F72DC44B8BB}" type="presParOf" srcId="{72E81B33-578D-48F0-917B-E147A7B4B3C1}" destId="{189E6C45-C8BE-41E1-A1CE-15F393B3A083}" srcOrd="0" destOrd="0" presId="urn:microsoft.com/office/officeart/2005/8/layout/process1"/>
    <dgm:cxn modelId="{572C6BAE-FB25-4132-82DF-305F4EA50179}" type="presParOf" srcId="{075AF24E-5500-4C15-B5A4-0A04FFEAF686}" destId="{BC01E64F-0FD5-4426-A7D5-7A838E15891A}" srcOrd="6" destOrd="0" presId="urn:microsoft.com/office/officeart/2005/8/layout/process1"/>
    <dgm:cxn modelId="{747DF591-F0C7-42AC-AFAA-4A87B9FD66C4}" type="presParOf" srcId="{075AF24E-5500-4C15-B5A4-0A04FFEAF686}" destId="{0B40EAC5-7E99-4FC9-93D0-BEB6BE381211}" srcOrd="7" destOrd="0" presId="urn:microsoft.com/office/officeart/2005/8/layout/process1"/>
    <dgm:cxn modelId="{D06E88AC-18C4-4404-8671-64E55CD7899D}" type="presParOf" srcId="{0B40EAC5-7E99-4FC9-93D0-BEB6BE381211}" destId="{CE7C74CC-44E2-4A81-A8B6-A47B5F295CF0}" srcOrd="0" destOrd="0" presId="urn:microsoft.com/office/officeart/2005/8/layout/process1"/>
    <dgm:cxn modelId="{651264D3-6CDA-4A2C-8CEC-BBF569A1B120}" type="presParOf" srcId="{075AF24E-5500-4C15-B5A4-0A04FFEAF686}" destId="{6C03D8BC-E107-4DFF-A15A-75BB919FB1BB}" srcOrd="8" destOrd="0" presId="urn:microsoft.com/office/officeart/2005/8/layout/process1"/>
    <dgm:cxn modelId="{7081B9E4-41CE-4720-A65D-3EC465DA7824}" type="presParOf" srcId="{075AF24E-5500-4C15-B5A4-0A04FFEAF686}" destId="{7FA279F8-318B-4389-B22E-AAE7DC8251CE}" srcOrd="9" destOrd="0" presId="urn:microsoft.com/office/officeart/2005/8/layout/process1"/>
    <dgm:cxn modelId="{6A54AFDD-09FC-45C0-B0FB-5D325787D463}" type="presParOf" srcId="{7FA279F8-318B-4389-B22E-AAE7DC8251CE}" destId="{3CDCEAAF-2FE6-4BAB-9483-AA8B48A9415B}" srcOrd="0" destOrd="0" presId="urn:microsoft.com/office/officeart/2005/8/layout/process1"/>
    <dgm:cxn modelId="{2BF45FAD-D580-4DCB-BC04-39A6FD05824C}" type="presParOf" srcId="{075AF24E-5500-4C15-B5A4-0A04FFEAF686}" destId="{1D48EA03-72F1-4CE0-B925-A78AA0DCA97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B2441-7BDE-4250-A9CD-A3C0ED2CA9A0}">
      <dsp:nvSpPr>
        <dsp:cNvPr id="0" name=""/>
        <dsp:cNvSpPr/>
      </dsp:nvSpPr>
      <dsp:spPr>
        <a:xfrm>
          <a:off x="0" y="2494305"/>
          <a:ext cx="1467238" cy="88034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Data Collection</a:t>
          </a:r>
        </a:p>
      </dsp:txBody>
      <dsp:txXfrm>
        <a:off x="25784" y="2520089"/>
        <a:ext cx="1415670" cy="828775"/>
      </dsp:txXfrm>
    </dsp:sp>
    <dsp:sp modelId="{1984D58D-2EAA-4A8B-8818-660E5B51D787}">
      <dsp:nvSpPr>
        <dsp:cNvPr id="0" name=""/>
        <dsp:cNvSpPr/>
      </dsp:nvSpPr>
      <dsp:spPr>
        <a:xfrm>
          <a:off x="1613962" y="2752539"/>
          <a:ext cx="311054" cy="3638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1613962" y="2825314"/>
        <a:ext cx="217738" cy="218325"/>
      </dsp:txXfrm>
    </dsp:sp>
    <dsp:sp modelId="{1E8BE390-3586-451A-B54E-0A5BCC61848C}">
      <dsp:nvSpPr>
        <dsp:cNvPr id="0" name=""/>
        <dsp:cNvSpPr/>
      </dsp:nvSpPr>
      <dsp:spPr>
        <a:xfrm>
          <a:off x="2054134" y="2494305"/>
          <a:ext cx="1467238" cy="88034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Data Cleaning (Excel) </a:t>
          </a:r>
        </a:p>
      </dsp:txBody>
      <dsp:txXfrm>
        <a:off x="2079918" y="2520089"/>
        <a:ext cx="1415670" cy="828775"/>
      </dsp:txXfrm>
    </dsp:sp>
    <dsp:sp modelId="{455659F8-5548-4B87-8C72-8C4BC8F3C9CC}">
      <dsp:nvSpPr>
        <dsp:cNvPr id="0" name=""/>
        <dsp:cNvSpPr/>
      </dsp:nvSpPr>
      <dsp:spPr>
        <a:xfrm>
          <a:off x="3668096" y="2752539"/>
          <a:ext cx="311054" cy="3638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3668096" y="2825314"/>
        <a:ext cx="217738" cy="218325"/>
      </dsp:txXfrm>
    </dsp:sp>
    <dsp:sp modelId="{3E2DA495-B2D3-4CDC-899B-8D9C110581CE}">
      <dsp:nvSpPr>
        <dsp:cNvPr id="0" name=""/>
        <dsp:cNvSpPr/>
      </dsp:nvSpPr>
      <dsp:spPr>
        <a:xfrm>
          <a:off x="4108268" y="2494305"/>
          <a:ext cx="1467238" cy="88034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Excel Dashboard</a:t>
          </a:r>
        </a:p>
      </dsp:txBody>
      <dsp:txXfrm>
        <a:off x="4134052" y="2520089"/>
        <a:ext cx="1415670" cy="828775"/>
      </dsp:txXfrm>
    </dsp:sp>
    <dsp:sp modelId="{72E81B33-578D-48F0-917B-E147A7B4B3C1}">
      <dsp:nvSpPr>
        <dsp:cNvPr id="0" name=""/>
        <dsp:cNvSpPr/>
      </dsp:nvSpPr>
      <dsp:spPr>
        <a:xfrm>
          <a:off x="5722231" y="2752539"/>
          <a:ext cx="311054" cy="3638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5722231" y="2825314"/>
        <a:ext cx="217738" cy="218325"/>
      </dsp:txXfrm>
    </dsp:sp>
    <dsp:sp modelId="{BC01E64F-0FD5-4426-A7D5-7A838E15891A}">
      <dsp:nvSpPr>
        <dsp:cNvPr id="0" name=""/>
        <dsp:cNvSpPr/>
      </dsp:nvSpPr>
      <dsp:spPr>
        <a:xfrm>
          <a:off x="6162402" y="2494305"/>
          <a:ext cx="1467238" cy="88034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Power BI Dashboard </a:t>
          </a:r>
        </a:p>
      </dsp:txBody>
      <dsp:txXfrm>
        <a:off x="6188186" y="2520089"/>
        <a:ext cx="1415670" cy="828775"/>
      </dsp:txXfrm>
    </dsp:sp>
    <dsp:sp modelId="{0B40EAC5-7E99-4FC9-93D0-BEB6BE381211}">
      <dsp:nvSpPr>
        <dsp:cNvPr id="0" name=""/>
        <dsp:cNvSpPr/>
      </dsp:nvSpPr>
      <dsp:spPr>
        <a:xfrm>
          <a:off x="7776365" y="2752539"/>
          <a:ext cx="311054" cy="3638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7776365" y="2825314"/>
        <a:ext cx="217738" cy="218325"/>
      </dsp:txXfrm>
    </dsp:sp>
    <dsp:sp modelId="{6C03D8BC-E107-4DFF-A15A-75BB919FB1BB}">
      <dsp:nvSpPr>
        <dsp:cNvPr id="0" name=""/>
        <dsp:cNvSpPr/>
      </dsp:nvSpPr>
      <dsp:spPr>
        <a:xfrm>
          <a:off x="8216536" y="2494305"/>
          <a:ext cx="1467238" cy="88034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SQL Analysis</a:t>
          </a:r>
        </a:p>
      </dsp:txBody>
      <dsp:txXfrm>
        <a:off x="8242320" y="2520089"/>
        <a:ext cx="1415670" cy="828775"/>
      </dsp:txXfrm>
    </dsp:sp>
    <dsp:sp modelId="{7FA279F8-318B-4389-B22E-AAE7DC8251CE}">
      <dsp:nvSpPr>
        <dsp:cNvPr id="0" name=""/>
        <dsp:cNvSpPr/>
      </dsp:nvSpPr>
      <dsp:spPr>
        <a:xfrm>
          <a:off x="9830499" y="2752539"/>
          <a:ext cx="311054" cy="3638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9830499" y="2825314"/>
        <a:ext cx="217738" cy="218325"/>
      </dsp:txXfrm>
    </dsp:sp>
    <dsp:sp modelId="{1D48EA03-72F1-4CE0-B925-A78AA0DCA978}">
      <dsp:nvSpPr>
        <dsp:cNvPr id="0" name=""/>
        <dsp:cNvSpPr/>
      </dsp:nvSpPr>
      <dsp:spPr>
        <a:xfrm>
          <a:off x="10270671" y="2494305"/>
          <a:ext cx="1467238" cy="88034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100" kern="1200" dirty="0"/>
            <a:t>Business Insights &amp; Recommendations </a:t>
          </a:r>
        </a:p>
      </dsp:txBody>
      <dsp:txXfrm>
        <a:off x="10296455" y="2520089"/>
        <a:ext cx="1415670" cy="8287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34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18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09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1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41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51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29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2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42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5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2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2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793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4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240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24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672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68628CA-D449-4543-AD2F-21B025C9134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2594-F77B-44E5-A796-014C75F6C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474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A3E33E-3300-1A31-583F-15B9305D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850" y="136849"/>
            <a:ext cx="8825660" cy="751059"/>
          </a:xfrm>
        </p:spPr>
        <p:txBody>
          <a:bodyPr/>
          <a:lstStyle/>
          <a:p>
            <a:r>
              <a:rPr lang="en-IN" sz="3600" dirty="0">
                <a:ea typeface="Calibri Light" panose="020F0302020204030204" pitchFamily="34" charset="0"/>
                <a:cs typeface="Calibri Light" panose="020F0302020204030204" pitchFamily="34" charset="0"/>
              </a:rPr>
              <a:t>Superstore Sales Performance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3E31CF5-4F27-24E0-C746-5BD8F487D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677" y="2948473"/>
            <a:ext cx="11646645" cy="377267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IN" sz="2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Using Microsoft Excel, Power BI &amp; MySQL</a:t>
            </a:r>
          </a:p>
          <a:p>
            <a:r>
              <a:rPr lang="en-IN" sz="2800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                         </a:t>
            </a:r>
          </a:p>
          <a:p>
            <a:endParaRPr lang="en-IN" sz="28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b="1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Prepared by:</a:t>
            </a:r>
            <a:r>
              <a:rPr lang="en-IN" sz="2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Shaik Saleem</a:t>
            </a:r>
          </a:p>
          <a:p>
            <a:endParaRPr lang="en-IN" dirty="0"/>
          </a:p>
        </p:txBody>
      </p:sp>
      <p:pic>
        <p:nvPicPr>
          <p:cNvPr id="8" name="Graphic 7" descr="Bar chart">
            <a:extLst>
              <a:ext uri="{FF2B5EF4-FFF2-40B4-BE49-F238E27FC236}">
                <a16:creationId xmlns:a16="http://schemas.microsoft.com/office/drawing/2014/main" id="{5A5AF922-A82A-321B-09AD-B3D69B4A5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1393" y="858132"/>
            <a:ext cx="978491" cy="914400"/>
          </a:xfrm>
          <a:prstGeom prst="rect">
            <a:avLst/>
          </a:prstGeom>
        </p:spPr>
      </p:pic>
      <p:pic>
        <p:nvPicPr>
          <p:cNvPr id="12" name="Graphic 11" descr="Upward trend">
            <a:extLst>
              <a:ext uri="{FF2B5EF4-FFF2-40B4-BE49-F238E27FC236}">
                <a16:creationId xmlns:a16="http://schemas.microsoft.com/office/drawing/2014/main" id="{F1B405EF-AE42-A026-A76F-0CCD2FA8E3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9427" y="858132"/>
            <a:ext cx="978490" cy="913464"/>
          </a:xfrm>
          <a:prstGeom prst="rect">
            <a:avLst/>
          </a:prstGeom>
        </p:spPr>
      </p:pic>
      <p:pic>
        <p:nvPicPr>
          <p:cNvPr id="14" name="Graphic 13" descr="Bar graph with upward trend">
            <a:extLst>
              <a:ext uri="{FF2B5EF4-FFF2-40B4-BE49-F238E27FC236}">
                <a16:creationId xmlns:a16="http://schemas.microsoft.com/office/drawing/2014/main" id="{5BB0763C-6626-24C8-6E62-A72CF5DA7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7455" y="8581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7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B1C7-3D4E-56E1-89BE-CC77B4BA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" y="127599"/>
            <a:ext cx="2903669" cy="482002"/>
          </a:xfrm>
        </p:spPr>
        <p:txBody>
          <a:bodyPr/>
          <a:lstStyle/>
          <a:p>
            <a:r>
              <a:rPr lang="en-IN" sz="2400" dirty="0"/>
              <a:t>Project Overview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57CF9-AD3F-0F09-8F7D-D830653E8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1" y="845978"/>
            <a:ext cx="11915777" cy="5884423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+mn-lt"/>
              </a:rPr>
              <a:t>Business Problem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Retail businesses generate a large amount of sales data. Without proper analysis, it is difficult to identify profitable products, customer trends, and regional performance.</a:t>
            </a:r>
          </a:p>
          <a:p>
            <a:r>
              <a:rPr lang="en-IN" b="1" dirty="0">
                <a:latin typeface="+mn-lt"/>
              </a:rPr>
              <a:t>Objectives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Analyse sales, profit, and quantity. Build interactive dashboards using Excel and Power BI. Perform </a:t>
            </a:r>
          </a:p>
          <a:p>
            <a:r>
              <a:rPr lang="en-IN" b="1" dirty="0">
                <a:latin typeface="+mn-lt"/>
              </a:rPr>
              <a:t>Dataset</a:t>
            </a:r>
          </a:p>
          <a:p>
            <a:pPr marL="0" indent="0">
              <a:buNone/>
            </a:pPr>
            <a:r>
              <a:rPr lang="en-IN" b="1" dirty="0">
                <a:latin typeface="+mn-lt"/>
              </a:rPr>
              <a:t>Dataset:</a:t>
            </a:r>
            <a:r>
              <a:rPr lang="en-IN" dirty="0">
                <a:latin typeface="+mn-lt"/>
              </a:rPr>
              <a:t> Sample Superstore </a:t>
            </a:r>
          </a:p>
          <a:p>
            <a:pPr marL="0" indent="0">
              <a:buNone/>
            </a:pPr>
            <a:r>
              <a:rPr lang="en-IN" b="1" dirty="0">
                <a:latin typeface="+mn-lt"/>
              </a:rPr>
              <a:t>Records:</a:t>
            </a:r>
            <a:r>
              <a:rPr lang="en-IN" dirty="0">
                <a:latin typeface="+mn-lt"/>
              </a:rPr>
              <a:t> 9,994 </a:t>
            </a:r>
          </a:p>
          <a:p>
            <a:pPr marL="0" indent="0">
              <a:buNone/>
            </a:pPr>
            <a:r>
              <a:rPr lang="en-IN" b="1" dirty="0">
                <a:latin typeface="+mn-lt"/>
              </a:rPr>
              <a:t>Type:</a:t>
            </a:r>
            <a:r>
              <a:rPr lang="en-IN" dirty="0">
                <a:latin typeface="+mn-lt"/>
              </a:rPr>
              <a:t> Retail Sales Dataset </a:t>
            </a:r>
          </a:p>
          <a:p>
            <a:r>
              <a:rPr lang="en-IN" b="1" dirty="0">
                <a:latin typeface="+mn-lt"/>
              </a:rPr>
              <a:t>Tools Used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Microsoft Excel 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Power BI Desktop 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MySQL Workbench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SQL-based business analysis. Generate actionable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24023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4B26-0207-6FB2-CF4C-446B797A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27" y="144807"/>
            <a:ext cx="2946175" cy="517666"/>
          </a:xfrm>
        </p:spPr>
        <p:txBody>
          <a:bodyPr/>
          <a:lstStyle/>
          <a:p>
            <a:r>
              <a:rPr lang="en-IN" sz="2400" dirty="0"/>
              <a:t>Project Workflow :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CADDD72-1828-1636-FE2D-5B12BA81FE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718623"/>
              </p:ext>
            </p:extLst>
          </p:nvPr>
        </p:nvGraphicFramePr>
        <p:xfrm>
          <a:off x="223935" y="597161"/>
          <a:ext cx="11737910" cy="5868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5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0F79-AC09-CDC3-240F-B0866CB8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74" y="126147"/>
            <a:ext cx="4243129" cy="452351"/>
          </a:xfrm>
        </p:spPr>
        <p:txBody>
          <a:bodyPr/>
          <a:lstStyle/>
          <a:p>
            <a:r>
              <a:rPr lang="en-IN" sz="2400" dirty="0"/>
              <a:t>Excel Dashboard Analysis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56EF4-43C1-673F-C695-115EC5A32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54" y="657508"/>
            <a:ext cx="10028076" cy="4208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58D27-C294-D83C-85AE-2E8435D0ACBC}"/>
              </a:ext>
            </a:extLst>
          </p:cNvPr>
          <p:cNvSpPr txBox="1"/>
          <p:nvPr/>
        </p:nvSpPr>
        <p:spPr>
          <a:xfrm>
            <a:off x="10258230" y="1222311"/>
            <a:ext cx="19337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Sales: ₹</a:t>
            </a:r>
            <a:r>
              <a:rPr lang="en-IN" sz="1400" dirty="0"/>
              <a:t>22.96 Lakhs </a:t>
            </a:r>
          </a:p>
          <a:p>
            <a:r>
              <a:rPr lang="en-IN" dirty="0"/>
              <a:t>Total Profit: </a:t>
            </a:r>
            <a:r>
              <a:rPr lang="en-IN" sz="1400" dirty="0"/>
              <a:t>₹2.86 Lakhs </a:t>
            </a:r>
          </a:p>
          <a:p>
            <a:r>
              <a:rPr lang="en-IN" dirty="0"/>
              <a:t>TotalQuantity</a:t>
            </a:r>
            <a:r>
              <a:rPr lang="en-IN" sz="1600" dirty="0"/>
              <a:t>:</a:t>
            </a:r>
            <a:r>
              <a:rPr lang="en-IN" sz="1400" dirty="0"/>
              <a:t>37,820</a:t>
            </a:r>
          </a:p>
          <a:p>
            <a:r>
              <a:rPr lang="en-IN" dirty="0"/>
              <a:t>Profit Margin:</a:t>
            </a:r>
          </a:p>
          <a:p>
            <a:r>
              <a:rPr lang="en-IN" sz="1400" dirty="0"/>
              <a:t>12.46%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0E73B-A227-0A55-0024-C5A626E97F9C}"/>
              </a:ext>
            </a:extLst>
          </p:cNvPr>
          <p:cNvSpPr txBox="1"/>
          <p:nvPr/>
        </p:nvSpPr>
        <p:spPr>
          <a:xfrm>
            <a:off x="8675134" y="5103674"/>
            <a:ext cx="35639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 Features:</a:t>
            </a:r>
          </a:p>
          <a:p>
            <a:r>
              <a:rPr lang="en-IN" dirty="0"/>
              <a:t>1.Pivot Tables &amp; Pivot Charts </a:t>
            </a:r>
          </a:p>
          <a:p>
            <a:r>
              <a:rPr lang="en-IN" dirty="0"/>
              <a:t>Interactive Slicers </a:t>
            </a:r>
          </a:p>
          <a:p>
            <a:r>
              <a:rPr lang="en-IN" dirty="0"/>
              <a:t>2.Regional Sales Analysis </a:t>
            </a:r>
          </a:p>
          <a:p>
            <a:r>
              <a:rPr lang="en-IN" dirty="0"/>
              <a:t>3.Category-wise Performance </a:t>
            </a:r>
          </a:p>
          <a:p>
            <a:r>
              <a:rPr lang="en-IN" dirty="0"/>
              <a:t>4.Customer Segment Analysis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F3805-717B-6F01-7038-D61793873915}"/>
              </a:ext>
            </a:extLst>
          </p:cNvPr>
          <p:cNvSpPr txBox="1"/>
          <p:nvPr/>
        </p:nvSpPr>
        <p:spPr>
          <a:xfrm>
            <a:off x="86275" y="4945224"/>
            <a:ext cx="83610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Insight</a:t>
            </a:r>
            <a:endParaRPr lang="en-IN" dirty="0"/>
          </a:p>
          <a:p>
            <a:r>
              <a:rPr lang="en-IN" dirty="0"/>
              <a:t>Technology generated the highest sales, while the West region delivered the strongest profitability. Interactive slicers enable quick comparison across categories, regions, and customer segments.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78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362-E741-CF40-0B62-1881C526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6" y="107486"/>
            <a:ext cx="4625684" cy="471012"/>
          </a:xfrm>
        </p:spPr>
        <p:txBody>
          <a:bodyPr/>
          <a:lstStyle/>
          <a:p>
            <a:r>
              <a:rPr lang="en-IN" sz="2400" dirty="0"/>
              <a:t>Power BI Dashboard Analysis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803FB-6238-5A83-7B8D-B27234770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97" y="578498"/>
            <a:ext cx="7471636" cy="4263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BC30D9-D80B-BAA7-AFB1-21C235D86E5E}"/>
              </a:ext>
            </a:extLst>
          </p:cNvPr>
          <p:cNvSpPr txBox="1"/>
          <p:nvPr/>
        </p:nvSpPr>
        <p:spPr>
          <a:xfrm>
            <a:off x="7660433" y="485191"/>
            <a:ext cx="34056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Dashboard Features</a:t>
            </a:r>
          </a:p>
          <a:p>
            <a:r>
              <a:rPr lang="en-IN" dirty="0"/>
              <a:t>1.Interactive KPI Cards </a:t>
            </a:r>
          </a:p>
          <a:p>
            <a:r>
              <a:rPr lang="en-IN" dirty="0"/>
              <a:t>2.DAX Measure (Profit Margin) </a:t>
            </a:r>
          </a:p>
          <a:p>
            <a:r>
              <a:rPr lang="en-IN" dirty="0"/>
              <a:t>3.Regional Analysis </a:t>
            </a:r>
          </a:p>
          <a:p>
            <a:r>
              <a:rPr lang="en-IN" dirty="0"/>
              <a:t>4.Category Performance </a:t>
            </a:r>
          </a:p>
          <a:p>
            <a:r>
              <a:rPr lang="en-IN" dirty="0"/>
              <a:t>5.Customer Segment Analysis </a:t>
            </a:r>
          </a:p>
          <a:p>
            <a:r>
              <a:rPr lang="en-IN" dirty="0"/>
              <a:t>Dynamic Slicers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5B610-655C-180F-9F76-6B57C99EA19C}"/>
              </a:ext>
            </a:extLst>
          </p:cNvPr>
          <p:cNvSpPr txBox="1"/>
          <p:nvPr/>
        </p:nvSpPr>
        <p:spPr>
          <a:xfrm>
            <a:off x="104936" y="4895481"/>
            <a:ext cx="109261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Insights</a:t>
            </a:r>
          </a:p>
          <a:p>
            <a:r>
              <a:rPr lang="en-IN" dirty="0"/>
              <a:t>1.Technology category generated the highest sales. </a:t>
            </a:r>
          </a:p>
          <a:p>
            <a:r>
              <a:rPr lang="en-IN" dirty="0"/>
              <a:t>2.West region recorded the highest profitability. </a:t>
            </a:r>
          </a:p>
          <a:p>
            <a:r>
              <a:rPr lang="en-IN" dirty="0"/>
              <a:t>3.Consumer segment contributed the largest revenue share. </a:t>
            </a:r>
          </a:p>
          <a:p>
            <a:r>
              <a:rPr lang="en-IN" dirty="0"/>
              <a:t>4.Sales performance can be filtered dynamically for deeper analysis..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AE321-D521-B139-EA46-6F21330432D2}"/>
              </a:ext>
            </a:extLst>
          </p:cNvPr>
          <p:cNvSpPr txBox="1"/>
          <p:nvPr/>
        </p:nvSpPr>
        <p:spPr>
          <a:xfrm>
            <a:off x="7660433" y="3179950"/>
            <a:ext cx="37603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Value</a:t>
            </a:r>
          </a:p>
          <a:p>
            <a:r>
              <a:rPr lang="en-IN" dirty="0"/>
              <a:t>This dashboard enables management to monitor sales performance, identify profitable regions and categories, and support faster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558982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66BF-F498-9064-41B9-75902E00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6" y="107485"/>
            <a:ext cx="3431367" cy="666955"/>
          </a:xfrm>
        </p:spPr>
        <p:txBody>
          <a:bodyPr/>
          <a:lstStyle/>
          <a:p>
            <a:r>
              <a:rPr lang="en-IN" sz="2400" dirty="0"/>
              <a:t>SQL Analysis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FCC41-A77F-57D1-EC8A-6CD9E19359C3}"/>
              </a:ext>
            </a:extLst>
          </p:cNvPr>
          <p:cNvSpPr txBox="1"/>
          <p:nvPr/>
        </p:nvSpPr>
        <p:spPr>
          <a:xfrm>
            <a:off x="858417" y="824989"/>
            <a:ext cx="62421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SQL Queries Performed</a:t>
            </a:r>
            <a:endParaRPr lang="en-IN" dirty="0"/>
          </a:p>
          <a:p>
            <a:endParaRPr lang="en-IN" dirty="0"/>
          </a:p>
          <a:p>
            <a:r>
              <a:rPr lang="en-IN" dirty="0"/>
              <a:t>1.Total Sales (SUM) </a:t>
            </a:r>
          </a:p>
          <a:p>
            <a:endParaRPr lang="en-IN" dirty="0"/>
          </a:p>
          <a:p>
            <a:r>
              <a:rPr lang="en-IN" dirty="0"/>
              <a:t>2.Total Profit (SUM) </a:t>
            </a:r>
          </a:p>
          <a:p>
            <a:endParaRPr lang="en-IN" dirty="0"/>
          </a:p>
          <a:p>
            <a:r>
              <a:rPr lang="en-IN" dirty="0"/>
              <a:t>3.Sales by Region (GROUP BY) </a:t>
            </a:r>
          </a:p>
          <a:p>
            <a:endParaRPr lang="en-IN" dirty="0"/>
          </a:p>
          <a:p>
            <a:r>
              <a:rPr lang="en-IN" dirty="0"/>
              <a:t>4.Profit by Category (GROUP BY) </a:t>
            </a:r>
          </a:p>
          <a:p>
            <a:endParaRPr lang="en-IN" dirty="0"/>
          </a:p>
          <a:p>
            <a:r>
              <a:rPr lang="en-IN" dirty="0"/>
              <a:t>5.Top 10 Cities by Sales (ORDER BY, LIMIT) </a:t>
            </a:r>
          </a:p>
          <a:p>
            <a:endParaRPr lang="en-IN" dirty="0"/>
          </a:p>
          <a:p>
            <a:r>
              <a:rPr lang="en-IN" dirty="0"/>
              <a:t>6.High-Value Orders (WHERE) </a:t>
            </a:r>
          </a:p>
          <a:p>
            <a:endParaRPr lang="en-IN" dirty="0"/>
          </a:p>
          <a:p>
            <a:r>
              <a:rPr lang="en-IN" dirty="0"/>
              <a:t>7.Average Discount by Category (AVG) </a:t>
            </a:r>
          </a:p>
          <a:p>
            <a:endParaRPr lang="en-IN" dirty="0"/>
          </a:p>
          <a:p>
            <a:r>
              <a:rPr lang="en-IN" dirty="0"/>
              <a:t>T8.op Profitable Sub-Categories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03976-4624-8BFD-7AB8-0DB8AEAABE81}"/>
              </a:ext>
            </a:extLst>
          </p:cNvPr>
          <p:cNvSpPr txBox="1"/>
          <p:nvPr/>
        </p:nvSpPr>
        <p:spPr>
          <a:xfrm>
            <a:off x="6096000" y="774440"/>
            <a:ext cx="33652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SQL Concepts Applied</a:t>
            </a:r>
            <a:endParaRPr lang="en-IN" dirty="0"/>
          </a:p>
          <a:p>
            <a:endParaRPr lang="en-IN" dirty="0"/>
          </a:p>
          <a:p>
            <a:r>
              <a:rPr lang="en-IN" dirty="0"/>
              <a:t>SELECT </a:t>
            </a:r>
          </a:p>
          <a:p>
            <a:endParaRPr lang="en-IN" dirty="0"/>
          </a:p>
          <a:p>
            <a:r>
              <a:rPr lang="en-IN" dirty="0"/>
              <a:t>WHERE </a:t>
            </a:r>
          </a:p>
          <a:p>
            <a:endParaRPr lang="en-IN" dirty="0"/>
          </a:p>
          <a:p>
            <a:r>
              <a:rPr lang="en-IN" dirty="0"/>
              <a:t>GROUP BY </a:t>
            </a:r>
          </a:p>
          <a:p>
            <a:endParaRPr lang="en-IN" dirty="0"/>
          </a:p>
          <a:p>
            <a:r>
              <a:rPr lang="en-IN" dirty="0"/>
              <a:t>ORDER BY </a:t>
            </a:r>
          </a:p>
          <a:p>
            <a:endParaRPr lang="en-IN" dirty="0"/>
          </a:p>
          <a:p>
            <a:r>
              <a:rPr lang="en-IN" dirty="0"/>
              <a:t>LIMIT </a:t>
            </a:r>
          </a:p>
          <a:p>
            <a:endParaRPr lang="en-IN" dirty="0"/>
          </a:p>
          <a:p>
            <a:r>
              <a:rPr lang="en-IN" dirty="0"/>
              <a:t>Aggregate Functions </a:t>
            </a:r>
          </a:p>
          <a:p>
            <a:endParaRPr lang="en-IN" dirty="0"/>
          </a:p>
          <a:p>
            <a:r>
              <a:rPr lang="en-IN" dirty="0"/>
              <a:t>Filtering </a:t>
            </a:r>
          </a:p>
          <a:p>
            <a:endParaRPr lang="en-IN" dirty="0"/>
          </a:p>
          <a:p>
            <a:r>
              <a:rPr lang="en-IN" dirty="0"/>
              <a:t>Business Reporting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1460A-DAF7-FBA3-4C37-80C4E71AD703}"/>
              </a:ext>
            </a:extLst>
          </p:cNvPr>
          <p:cNvSpPr txBox="1"/>
          <p:nvPr/>
        </p:nvSpPr>
        <p:spPr>
          <a:xfrm>
            <a:off x="154700" y="5575754"/>
            <a:ext cx="106781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Outcome</a:t>
            </a:r>
            <a:endParaRPr lang="en-IN" dirty="0"/>
          </a:p>
          <a:p>
            <a:r>
              <a:rPr lang="en-IN" dirty="0"/>
              <a:t>SQL enabled efficient analysis of sales data by identifying top-performing regions, profitable product categories, high-value orders, and customer purchasing trends. These insights supported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93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AA49-1BC2-881F-8018-2703F39A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3" y="98155"/>
            <a:ext cx="5428117" cy="489674"/>
          </a:xfrm>
        </p:spPr>
        <p:txBody>
          <a:bodyPr/>
          <a:lstStyle/>
          <a:p>
            <a:r>
              <a:rPr lang="en-IN" sz="2400" dirty="0"/>
              <a:t>Key Performance Indicators (KPIs) 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152808-E2AD-F7D2-D667-A439D8A23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123343"/>
              </p:ext>
            </p:extLst>
          </p:nvPr>
        </p:nvGraphicFramePr>
        <p:xfrm>
          <a:off x="175208" y="1687847"/>
          <a:ext cx="8128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901065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41592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Key Performance Indicators (KPI)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033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22,96,195.59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0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2,86,241.42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80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37,820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15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12.46%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4106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B2B6CB-F9AD-4ED2-CCFC-E2800B25A9C6}"/>
              </a:ext>
            </a:extLst>
          </p:cNvPr>
          <p:cNvSpPr txBox="1"/>
          <p:nvPr/>
        </p:nvSpPr>
        <p:spPr>
          <a:xfrm>
            <a:off x="67613" y="3951601"/>
            <a:ext cx="7912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Takeaways</a:t>
            </a:r>
          </a:p>
          <a:p>
            <a:r>
              <a:rPr lang="en-IN" dirty="0"/>
              <a:t>Technology category generated the highest sales. </a:t>
            </a:r>
          </a:p>
          <a:p>
            <a:r>
              <a:rPr lang="en-IN" dirty="0"/>
              <a:t>West region achieved the highest profitability. </a:t>
            </a:r>
          </a:p>
          <a:p>
            <a:r>
              <a:rPr lang="en-IN" dirty="0"/>
              <a:t>Consumer segment contributed the largest revenue share. </a:t>
            </a:r>
          </a:p>
          <a:p>
            <a:r>
              <a:rPr lang="en-IN" dirty="0"/>
              <a:t>Interactive dashboards enable faster business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74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DAC6-FEF6-716F-803A-1C777872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2" y="79494"/>
            <a:ext cx="3431367" cy="433690"/>
          </a:xfrm>
        </p:spPr>
        <p:txBody>
          <a:bodyPr/>
          <a:lstStyle/>
          <a:p>
            <a:r>
              <a:rPr lang="en-IN" sz="2400" dirty="0"/>
              <a:t>Key Business Insights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01F10-C68E-F686-0FD0-3037492FFBAF}"/>
              </a:ext>
            </a:extLst>
          </p:cNvPr>
          <p:cNvSpPr txBox="1"/>
          <p:nvPr/>
        </p:nvSpPr>
        <p:spPr>
          <a:xfrm>
            <a:off x="830424" y="1175657"/>
            <a:ext cx="3431367" cy="20313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💰 Insight 1</a:t>
            </a:r>
          </a:p>
          <a:p>
            <a:r>
              <a:rPr lang="en-IN" b="1" dirty="0"/>
              <a:t>Technology Category</a:t>
            </a:r>
            <a:endParaRPr lang="en-IN" dirty="0"/>
          </a:p>
          <a:p>
            <a:r>
              <a:rPr lang="en-IN" dirty="0"/>
              <a:t>Generated the highest sales revenue. </a:t>
            </a:r>
          </a:p>
          <a:p>
            <a:r>
              <a:rPr lang="en-IN" dirty="0"/>
              <a:t>Strong demand and profitability.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B33D0-8C0A-DEC8-0A85-2A809748B2CD}"/>
              </a:ext>
            </a:extLst>
          </p:cNvPr>
          <p:cNvSpPr txBox="1"/>
          <p:nvPr/>
        </p:nvSpPr>
        <p:spPr>
          <a:xfrm>
            <a:off x="6707901" y="1175656"/>
            <a:ext cx="3265714" cy="20313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🌍 Insight 2</a:t>
            </a:r>
          </a:p>
          <a:p>
            <a:r>
              <a:rPr lang="en-IN" b="1" dirty="0"/>
              <a:t>Regional Performance</a:t>
            </a:r>
            <a:endParaRPr lang="en-IN" dirty="0"/>
          </a:p>
          <a:p>
            <a:r>
              <a:rPr lang="en-IN" dirty="0"/>
              <a:t>West region achieved the highest overall profit. </a:t>
            </a:r>
          </a:p>
          <a:p>
            <a:r>
              <a:rPr lang="en-IN" dirty="0"/>
              <a:t>Indicates strong market performance.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F3496-21C3-115F-5B3F-833E309DF8BF}"/>
              </a:ext>
            </a:extLst>
          </p:cNvPr>
          <p:cNvSpPr txBox="1"/>
          <p:nvPr/>
        </p:nvSpPr>
        <p:spPr>
          <a:xfrm>
            <a:off x="830423" y="4068146"/>
            <a:ext cx="3431367" cy="20313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👥 Insight 3</a:t>
            </a:r>
          </a:p>
          <a:p>
            <a:r>
              <a:rPr lang="en-IN" b="1" dirty="0"/>
              <a:t>Customer Segment</a:t>
            </a:r>
            <a:endParaRPr lang="en-IN" dirty="0"/>
          </a:p>
          <a:p>
            <a:r>
              <a:rPr lang="en-IN" dirty="0"/>
              <a:t>Consumer segment contributed the largest share of sales. </a:t>
            </a:r>
          </a:p>
          <a:p>
            <a:r>
              <a:rPr lang="en-IN" dirty="0"/>
              <a:t>Primary target customer group.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EE7EB-85EB-CBB9-3393-A75D3C8D6714}"/>
              </a:ext>
            </a:extLst>
          </p:cNvPr>
          <p:cNvSpPr txBox="1"/>
          <p:nvPr/>
        </p:nvSpPr>
        <p:spPr>
          <a:xfrm>
            <a:off x="6707901" y="4068146"/>
            <a:ext cx="3350499" cy="20313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📉 Insight 4</a:t>
            </a:r>
          </a:p>
          <a:p>
            <a:r>
              <a:rPr lang="en-IN" b="1" dirty="0"/>
              <a:t>Profitability</a:t>
            </a:r>
            <a:endParaRPr lang="en-IN" dirty="0"/>
          </a:p>
          <a:p>
            <a:r>
              <a:rPr lang="en-IN" dirty="0"/>
              <a:t>High discounts on some products reduced profit margins. </a:t>
            </a:r>
          </a:p>
          <a:p>
            <a:r>
              <a:rPr lang="en-IN" dirty="0"/>
              <a:t>Discount strategies should be reviewed.</a:t>
            </a:r>
          </a:p>
        </p:txBody>
      </p:sp>
    </p:spTree>
    <p:extLst>
      <p:ext uri="{BB962C8B-B14F-4D97-AF65-F5344CB8AC3E}">
        <p14:creationId xmlns:p14="http://schemas.microsoft.com/office/powerpoint/2010/main" val="112608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7FEB-A6A4-84EE-8791-DB30A30A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3" y="98155"/>
            <a:ext cx="4737652" cy="471013"/>
          </a:xfrm>
        </p:spPr>
        <p:txBody>
          <a:bodyPr/>
          <a:lstStyle/>
          <a:p>
            <a:r>
              <a:rPr lang="en-IN" sz="2400" dirty="0"/>
              <a:t>Business Recommendations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70B9E-CF6A-19BA-368C-C50CDE52244E}"/>
              </a:ext>
            </a:extLst>
          </p:cNvPr>
          <p:cNvSpPr txBox="1"/>
          <p:nvPr/>
        </p:nvSpPr>
        <p:spPr>
          <a:xfrm>
            <a:off x="794251" y="838210"/>
            <a:ext cx="3284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📦 Recommendation 1</a:t>
            </a:r>
          </a:p>
          <a:p>
            <a:r>
              <a:rPr lang="en-IN" b="1" dirty="0"/>
              <a:t>Increase Investment in Technology</a:t>
            </a:r>
            <a:endParaRPr lang="en-IN" dirty="0"/>
          </a:p>
          <a:p>
            <a:r>
              <a:rPr lang="en-IN" dirty="0"/>
              <a:t>Focus on high-performing technology products.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32DAE-878C-9074-EC5C-2D138402D658}"/>
              </a:ext>
            </a:extLst>
          </p:cNvPr>
          <p:cNvSpPr txBox="1"/>
          <p:nvPr/>
        </p:nvSpPr>
        <p:spPr>
          <a:xfrm>
            <a:off x="7081935" y="653143"/>
            <a:ext cx="30884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📦 Recommendation 2</a:t>
            </a:r>
          </a:p>
          <a:p>
            <a:r>
              <a:rPr lang="en-IN" b="1" dirty="0"/>
              <a:t>Optimize Discount Strategy</a:t>
            </a:r>
            <a:endParaRPr lang="en-IN" dirty="0"/>
          </a:p>
          <a:p>
            <a:r>
              <a:rPr lang="en-IN" dirty="0"/>
              <a:t>Reduce excessive discounts on low-profit products.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D149C-AA08-914E-B709-D7DCC8D78B1C}"/>
              </a:ext>
            </a:extLst>
          </p:cNvPr>
          <p:cNvSpPr txBox="1"/>
          <p:nvPr/>
        </p:nvSpPr>
        <p:spPr>
          <a:xfrm>
            <a:off x="3834882" y="2584580"/>
            <a:ext cx="3088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📦 Recommendation 3</a:t>
            </a:r>
          </a:p>
          <a:p>
            <a:r>
              <a:rPr lang="en-IN" b="1" dirty="0"/>
              <a:t>Strengthen High-Performing Regions</a:t>
            </a:r>
            <a:endParaRPr lang="en-IN" dirty="0"/>
          </a:p>
          <a:p>
            <a:r>
              <a:rPr lang="en-IN" dirty="0"/>
              <a:t>Continue expanding sales in the West region.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24C6A-E0AE-DF65-BFF9-4CC7FCC049CB}"/>
              </a:ext>
            </a:extLst>
          </p:cNvPr>
          <p:cNvSpPr txBox="1"/>
          <p:nvPr/>
        </p:nvSpPr>
        <p:spPr>
          <a:xfrm>
            <a:off x="794251" y="4542463"/>
            <a:ext cx="2752531" cy="2103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📦 Recommendation 4</a:t>
            </a:r>
          </a:p>
          <a:p>
            <a:r>
              <a:rPr lang="en-IN" b="1" dirty="0"/>
              <a:t>Improve Inventory Management</a:t>
            </a:r>
            <a:endParaRPr lang="en-IN" dirty="0"/>
          </a:p>
          <a:p>
            <a:r>
              <a:rPr lang="en-IN" dirty="0"/>
              <a:t>Stock products based on demand and sales trends.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89A48-EF63-B779-8D48-416E6D23A8AF}"/>
              </a:ext>
            </a:extLst>
          </p:cNvPr>
          <p:cNvSpPr txBox="1"/>
          <p:nvPr/>
        </p:nvSpPr>
        <p:spPr>
          <a:xfrm>
            <a:off x="7081935" y="4655976"/>
            <a:ext cx="3088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📦 Recommendation 5</a:t>
            </a:r>
          </a:p>
          <a:p>
            <a:r>
              <a:rPr lang="en-IN" b="1" dirty="0"/>
              <a:t>Leverage Dashboards</a:t>
            </a:r>
            <a:endParaRPr lang="en-IN" dirty="0"/>
          </a:p>
          <a:p>
            <a:r>
              <a:rPr lang="en-IN" dirty="0"/>
              <a:t>Use Excel and Power BI dashboards for monthly performance monitoring.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61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DCD4-E481-11AB-36EE-9E0F9F26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5" y="83975"/>
            <a:ext cx="2304661" cy="508335"/>
          </a:xfrm>
        </p:spPr>
        <p:txBody>
          <a:bodyPr/>
          <a:lstStyle/>
          <a:p>
            <a:r>
              <a:rPr lang="en-IN" sz="2400" dirty="0"/>
              <a:t>Conclusion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4780D-0A8A-5D98-8DF3-F0706174C409}"/>
              </a:ext>
            </a:extLst>
          </p:cNvPr>
          <p:cNvSpPr txBox="1"/>
          <p:nvPr/>
        </p:nvSpPr>
        <p:spPr>
          <a:xfrm>
            <a:off x="345233" y="592310"/>
            <a:ext cx="9060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project successfully </a:t>
            </a:r>
            <a:r>
              <a:rPr lang="en-IN" dirty="0" err="1"/>
              <a:t>analyzed</a:t>
            </a:r>
            <a:r>
              <a:rPr lang="en-IN" dirty="0"/>
              <a:t> the Sample Superstore dataset using </a:t>
            </a:r>
            <a:r>
              <a:rPr lang="en-IN" b="1" dirty="0"/>
              <a:t>Microsoft Excel, Power BI, and MySQL</a:t>
            </a:r>
            <a:r>
              <a:rPr lang="en-IN" dirty="0"/>
              <a:t>. Interactive dashboards and SQL analysis identified sales trends, regional performance, product profitability, and customer insights. The findings demonstrate how business analytics supports informed, data-driven decision-making.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36429-387A-3BA4-8685-78D52BCC2D87}"/>
              </a:ext>
            </a:extLst>
          </p:cNvPr>
          <p:cNvSpPr txBox="1"/>
          <p:nvPr/>
        </p:nvSpPr>
        <p:spPr>
          <a:xfrm>
            <a:off x="4519126" y="3429000"/>
            <a:ext cx="3153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05504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253</TotalTime>
  <Words>690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Century Gothic</vt:lpstr>
      <vt:lpstr>Wingdings 3</vt:lpstr>
      <vt:lpstr>Ion</vt:lpstr>
      <vt:lpstr>Superstore Sales Performance Analysis</vt:lpstr>
      <vt:lpstr>Project Overview : </vt:lpstr>
      <vt:lpstr>Project Workflow :</vt:lpstr>
      <vt:lpstr>Excel Dashboard Analysis :</vt:lpstr>
      <vt:lpstr>Power BI Dashboard Analysis : </vt:lpstr>
      <vt:lpstr>SQL Analysis :</vt:lpstr>
      <vt:lpstr>Key Performance Indicators (KPIs) :</vt:lpstr>
      <vt:lpstr>Key Business Insights : </vt:lpstr>
      <vt:lpstr>Business Recommendations : </vt:lpstr>
      <vt:lpstr>Conclusion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Saleem Shaik</dc:creator>
  <cp:lastModifiedBy>Saleem Shaik</cp:lastModifiedBy>
  <cp:revision>2</cp:revision>
  <dcterms:created xsi:type="dcterms:W3CDTF">2026-07-09T10:48:59Z</dcterms:created>
  <dcterms:modified xsi:type="dcterms:W3CDTF">2026-07-09T15:02:29Z</dcterms:modified>
</cp:coreProperties>
</file>